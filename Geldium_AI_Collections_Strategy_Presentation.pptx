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Roboto Slab"/>
      <p:regular r:id="rId12"/>
    </p:embeddedFont>
    <p:embeddedFont>
      <p:font typeface="Roboto" panose="0200000000000000000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 showGuides="1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965" y="274320"/>
            <a:ext cx="85985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70"/>
                </a:solidFill>
              </a:defRPr>
            </a:pPr>
            <a:r>
              <a:rPr sz="2400"/>
              <a:t>AI-Powered Collections Strategy – How the System Works</a:t>
            </a:r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463040" cy="1828800"/>
          </a:xfrm>
          <a:prstGeom prst="roundRect">
            <a:avLst/>
          </a:prstGeom>
          <a:solidFill>
            <a:srgbClr val="E6F0FF"/>
          </a:solidFill>
          <a:ln>
            <a:solidFill>
              <a:srgbClr val="4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Customer Data</a:t>
            </a:r>
          </a:p>
          <a:p>
            <a:pPr algn="ctr">
              <a:defRPr sz="1200"/>
            </a:pPr>
            <a:r>
              <a:t>Repayment history</a:t>
            </a:r>
          </a:p>
          <a:p>
            <a:pPr algn="ctr">
              <a:defRPr sz="1200"/>
            </a:pPr>
            <a:r>
              <a:t>Credit utilization</a:t>
            </a:r>
          </a:p>
          <a:p>
            <a:pPr algn="ctr">
              <a:defRPr sz="1200"/>
            </a:pPr>
            <a:r>
              <a:t>Income &amp; demographics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37360" y="274320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1828800"/>
            <a:ext cx="1463040" cy="1828800"/>
          </a:xfrm>
          <a:prstGeom prst="roundRect">
            <a:avLst/>
          </a:prstGeom>
          <a:solidFill>
            <a:srgbClr val="E6F0FF"/>
          </a:solidFill>
          <a:ln>
            <a:solidFill>
              <a:srgbClr val="4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Risk Prediction</a:t>
            </a:r>
          </a:p>
          <a:p>
            <a:pPr algn="ctr">
              <a:defRPr sz="1200"/>
            </a:pPr>
            <a:r>
              <a:t>AI risk score</a:t>
            </a:r>
          </a:p>
          <a:p>
            <a:pPr algn="ctr">
              <a:defRPr sz="1200"/>
            </a:pPr>
            <a:r>
              <a:t>Business rules</a:t>
            </a:r>
          </a:p>
          <a:p>
            <a:pPr algn="ctr">
              <a:defRPr sz="1200"/>
            </a:pPr>
            <a:r>
              <a:t>Segment customers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2743200"/>
            <a:ext cx="6400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828800"/>
            <a:ext cx="1463040" cy="1828800"/>
          </a:xfrm>
          <a:prstGeom prst="roundRect">
            <a:avLst/>
          </a:prstGeom>
          <a:solidFill>
            <a:srgbClr val="E6F0FF"/>
          </a:solidFill>
          <a:ln>
            <a:solidFill>
              <a:srgbClr val="4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Personalized Action</a:t>
            </a:r>
          </a:p>
          <a:p>
            <a:pPr algn="ctr">
              <a:defRPr sz="1200"/>
            </a:pPr>
            <a:r>
              <a:t>Reminders</a:t>
            </a:r>
          </a:p>
          <a:p>
            <a:pPr algn="ctr">
              <a:defRPr sz="1200"/>
            </a:pPr>
            <a:r>
              <a:t>Payment plans</a:t>
            </a:r>
          </a:p>
          <a:p>
            <a:pPr algn="ctr">
              <a:defRPr sz="1200"/>
            </a:pPr>
            <a:r>
              <a:t>Hardship offers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74320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92240" y="1828800"/>
            <a:ext cx="1463040" cy="1828800"/>
          </a:xfrm>
          <a:prstGeom prst="roundRect">
            <a:avLst/>
          </a:prstGeom>
          <a:solidFill>
            <a:srgbClr val="E6F0FF"/>
          </a:solidFill>
          <a:ln>
            <a:solidFill>
              <a:srgbClr val="4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Learning Loop</a:t>
            </a:r>
          </a:p>
          <a:p>
            <a:pPr algn="ctr">
              <a:defRPr sz="1200"/>
            </a:pPr>
            <a:r>
              <a:t>Track outcomes</a:t>
            </a:r>
          </a:p>
          <a:p>
            <a:pPr algn="ctr">
              <a:defRPr sz="1200"/>
            </a:pPr>
            <a:r>
              <a:t>Retrain model</a:t>
            </a:r>
          </a:p>
          <a:p>
            <a:pPr algn="ctr">
              <a:defRPr sz="1200"/>
            </a:pPr>
            <a:r>
              <a:t>Improve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70"/>
                </a:solidFill>
              </a:defRPr>
            </a:pPr>
            <a:r>
              <a:t>System Workflow – Decision Logic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60" y="822960"/>
            <a:ext cx="8920480" cy="42291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1000"/>
              </a:spcAft>
              <a:defRPr sz="2000"/>
            </a:pPr>
            <a:r>
              <a:rPr sz="1400"/>
              <a:t>I</a:t>
            </a:r>
            <a:r>
              <a:rPr sz="1600"/>
              <a:t>nputs: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Customer repayment history, credit utilization, income, demographics, and previous interactions.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Decision Logic: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Predictive model assigns a risk score and combines it with business rules to select the next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best action.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Actions: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Low risk → friendly reminder; Medium risk → flexible payment plan; High risk → hardship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review or agent escalation.Learning Loop: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Payment outcomes are monitored and the model is regularly retrained using new </a:t>
            </a:r>
            <a:endParaRPr sz="1600"/>
          </a:p>
          <a:p>
            <a:pPr>
              <a:spcAft>
                <a:spcPts val="1000"/>
              </a:spcAft>
              <a:defRPr sz="2000"/>
            </a:pPr>
            <a:r>
              <a:rPr sz="1600"/>
              <a:t>performance data.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70"/>
                </a:solidFill>
              </a:defRPr>
            </a:pPr>
            <a:r>
              <a:t>Role of Agentic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75895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840480"/>
              </a:tblGrid>
              <a:tr h="694944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Human Oversight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Send payment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Approve hardship plans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Assign risk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Review high-risk cases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Choose approved outreach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Handle customer disputes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Track responses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Audit model decisions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70"/>
                </a:solidFill>
              </a:defRPr>
            </a:pPr>
            <a:r>
              <a:t>Responsible AI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455" y="822960"/>
            <a:ext cx="11684635" cy="4321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000"/>
            </a:pPr>
            <a:r>
              <a:t>Fairness: Regular bias testing across customer groups and removal of </a:t>
            </a:r>
          </a:p>
          <a:p>
            <a:pPr>
              <a:spcAft>
                <a:spcPts val="1000"/>
              </a:spcAft>
              <a:defRPr sz="2000"/>
            </a:pPr>
            <a:r>
              <a:t>discriminatory variables.</a:t>
            </a:r>
          </a:p>
          <a:p>
            <a:pPr>
              <a:spcAft>
                <a:spcPts val="1000"/>
              </a:spcAft>
              <a:defRPr sz="2000"/>
            </a:pPr>
            <a:r>
              <a:t>Explainability: Every recommendation includes a clear reason code for</a:t>
            </a:r>
          </a:p>
          <a:p>
            <a:pPr>
              <a:spcAft>
                <a:spcPts val="1000"/>
              </a:spcAft>
              <a:defRPr sz="2000"/>
            </a:pPr>
            <a:r>
              <a:t> customers and staff.</a:t>
            </a:r>
          </a:p>
          <a:p>
            <a:pPr>
              <a:spcAft>
                <a:spcPts val="1000"/>
              </a:spcAft>
              <a:defRPr sz="2000"/>
            </a:pPr>
            <a:r>
              <a:t>Compliance: Align with ECOA, GDPR, and local financial regulations </a:t>
            </a:r>
          </a:p>
          <a:p>
            <a:pPr>
              <a:spcAft>
                <a:spcPts val="1000"/>
              </a:spcAft>
              <a:defRPr sz="2000"/>
            </a:pPr>
            <a:r>
              <a:t>for privacy and consent.</a:t>
            </a:r>
          </a:p>
          <a:p>
            <a:pPr>
              <a:spcAft>
                <a:spcPts val="1000"/>
              </a:spcAft>
              <a:defRPr sz="2000"/>
            </a:pPr>
            <a:r>
              <a:t>Human-in-the-loop: Critical decisions such as hardship </a:t>
            </a:r>
          </a:p>
          <a:p>
            <a:pPr>
              <a:spcAft>
                <a:spcPts val="1000"/>
              </a:spcAft>
              <a:defRPr sz="2000"/>
            </a:pPr>
            <a:r>
              <a:t>approvals and escalations require human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70"/>
                </a:solidFill>
              </a:defRPr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Business KPIs</a:t>
            </a:r>
          </a:p>
          <a:p>
            <a:pPr lvl="1">
              <a:defRPr sz="1600"/>
            </a:pPr>
            <a:r>
              <a:t>Higher repayment rates</a:t>
            </a:r>
          </a:p>
          <a:p>
            <a:pPr lvl="1">
              <a:defRPr sz="1600"/>
            </a:pPr>
            <a:r>
              <a:t>Lower delinquency</a:t>
            </a:r>
          </a:p>
          <a:p>
            <a:pPr lvl="1">
              <a:defRPr sz="1600"/>
            </a:pPr>
            <a:r>
              <a:t>Reduced collection costs</a:t>
            </a:r>
          </a:p>
          <a:p>
            <a:pPr lvl="1">
              <a:defRPr sz="1600"/>
            </a:pPr>
            <a:r>
              <a:t>Faster outreach</a:t>
            </a:r>
          </a:p>
          <a:p>
            <a:pPr lvl="1">
              <a:defRPr sz="1600"/>
            </a:pPr>
            <a:r>
              <a:t>Scalable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91440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Customer Outcomes</a:t>
            </a:r>
          </a:p>
          <a:p>
            <a:pPr lvl="1">
              <a:defRPr sz="1600"/>
            </a:pPr>
            <a:r>
              <a:t>Personalized support</a:t>
            </a:r>
          </a:p>
          <a:p>
            <a:pPr lvl="1">
              <a:defRPr sz="1600"/>
            </a:pPr>
            <a:r>
              <a:t>Fairer treatment</a:t>
            </a:r>
          </a:p>
          <a:p>
            <a:pPr lvl="1">
              <a:defRPr sz="1600"/>
            </a:pPr>
            <a:r>
              <a:t>Greater transparency</a:t>
            </a:r>
          </a:p>
          <a:p>
            <a:pPr lvl="1">
              <a:defRPr sz="1600"/>
            </a:pPr>
            <a:r>
              <a:t>Better experience</a:t>
            </a:r>
          </a:p>
          <a:p>
            <a:pPr lvl="1">
              <a:defRPr sz="1600"/>
            </a:pPr>
            <a:r>
              <a:t>Stronger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</Words>
  <Application>WPS Presentation</Application>
  <PresentationFormat>On-screen Show (16:9)</PresentationFormat>
  <Paragraphs>84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Arial</vt:lpstr>
      <vt:lpstr>Roboto Slab</vt:lpstr>
      <vt:lpstr>Roboto</vt:lpstr>
      <vt:lpstr>Microsoft YaHei</vt:lpstr>
      <vt:lpstr>Arial Unicode MS</vt:lpstr>
      <vt:lpstr>Marina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Muddada Bhanumathi</cp:lastModifiedBy>
  <cp:revision>3</cp:revision>
  <dcterms:created xsi:type="dcterms:W3CDTF">2026-09-03T15:02:31Z</dcterms:created>
  <dcterms:modified xsi:type="dcterms:W3CDTF">2026-09-03T15:07:59Z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9892BD6A72184A64BC7444CFEFC37013_13</vt:lpwstr>
  </property>
</Properties>
</file>